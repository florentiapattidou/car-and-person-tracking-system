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EB74FF-37F1-4CF9-86D0-B9D5459CB416}" v="12" dt="2026-05-24T21:02:31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19" autoAdjust="0"/>
    <p:restoredTop sz="67762" autoAdjust="0"/>
  </p:normalViewPr>
  <p:slideViewPr>
    <p:cSldViewPr snapToGrid="0" snapToObjects="1">
      <p:cViewPr varScale="1">
        <p:scale>
          <a:sx n="57" d="100"/>
          <a:sy n="57" d="100"/>
        </p:scale>
        <p:origin x="584" y="32"/>
      </p:cViewPr>
      <p:guideLst/>
    </p:cSldViewPr>
  </p:slideViewPr>
  <p:notesTextViewPr>
    <p:cViewPr>
      <p:scale>
        <a:sx n="1" d="1"/>
        <a:sy n="1" d="1"/>
      </p:scale>
      <p:origin x="0" y="-2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entia Pattidou" userId="1455c80c-ad91-4fa5-86bd-be39061b1110" providerId="ADAL" clId="{4C8395CC-CEE5-4BA6-B97C-65CE7FC1923B}"/>
    <pc:docChg chg="undo custSel modSld">
      <pc:chgData name="Florentia Pattidou" userId="1455c80c-ad91-4fa5-86bd-be39061b1110" providerId="ADAL" clId="{4C8395CC-CEE5-4BA6-B97C-65CE7FC1923B}" dt="2026-05-24T21:02:48.250" v="525" actId="20577"/>
      <pc:docMkLst>
        <pc:docMk/>
      </pc:docMkLst>
      <pc:sldChg chg="delSp modSp mod modNotesTx">
        <pc:chgData name="Florentia Pattidou" userId="1455c80c-ad91-4fa5-86bd-be39061b1110" providerId="ADAL" clId="{4C8395CC-CEE5-4BA6-B97C-65CE7FC1923B}" dt="2026-05-24T20:53:06.845" v="252" actId="20577"/>
        <pc:sldMkLst>
          <pc:docMk/>
          <pc:sldMk cId="0" sldId="256"/>
        </pc:sldMkLst>
        <pc:spChg chg="del mod">
          <ac:chgData name="Florentia Pattidou" userId="1455c80c-ad91-4fa5-86bd-be39061b1110" providerId="ADAL" clId="{4C8395CC-CEE5-4BA6-B97C-65CE7FC1923B}" dt="2026-05-24T20:50:35.599" v="38" actId="478"/>
          <ac:spMkLst>
            <pc:docMk/>
            <pc:sldMk cId="0" sldId="256"/>
            <ac:spMk id="11" creationId="{00000000-0000-0000-0000-000000000000}"/>
          </ac:spMkLst>
        </pc:spChg>
      </pc:sldChg>
      <pc:sldChg chg="delSp modSp mod modNotesTx">
        <pc:chgData name="Florentia Pattidou" userId="1455c80c-ad91-4fa5-86bd-be39061b1110" providerId="ADAL" clId="{4C8395CC-CEE5-4BA6-B97C-65CE7FC1923B}" dt="2026-05-24T20:54:43.381" v="424" actId="6549"/>
        <pc:sldMkLst>
          <pc:docMk/>
          <pc:sldMk cId="0" sldId="257"/>
        </pc:sldMkLst>
        <pc:spChg chg="mod">
          <ac:chgData name="Florentia Pattidou" userId="1455c80c-ad91-4fa5-86bd-be39061b1110" providerId="ADAL" clId="{4C8395CC-CEE5-4BA6-B97C-65CE7FC1923B}" dt="2026-05-24T20:48:07.146" v="8" actId="404"/>
          <ac:spMkLst>
            <pc:docMk/>
            <pc:sldMk cId="0" sldId="257"/>
            <ac:spMk id="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8:03.517" v="7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8:10.979" v="10" actId="403"/>
          <ac:spMkLst>
            <pc:docMk/>
            <pc:sldMk cId="0" sldId="257"/>
            <ac:spMk id="18" creationId="{00000000-0000-0000-0000-000000000000}"/>
          </ac:spMkLst>
        </pc:spChg>
        <pc:spChg chg="del">
          <ac:chgData name="Florentia Pattidou" userId="1455c80c-ad91-4fa5-86bd-be39061b1110" providerId="ADAL" clId="{4C8395CC-CEE5-4BA6-B97C-65CE7FC1923B}" dt="2026-05-24T20:50:47.947" v="39" actId="478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 modNotesTx">
        <pc:chgData name="Florentia Pattidou" userId="1455c80c-ad91-4fa5-86bd-be39061b1110" providerId="ADAL" clId="{4C8395CC-CEE5-4BA6-B97C-65CE7FC1923B}" dt="2026-05-24T20:58:01.148" v="461" actId="20577"/>
        <pc:sldMkLst>
          <pc:docMk/>
          <pc:sldMk cId="0" sldId="258"/>
        </pc:sldMkLst>
        <pc:spChg chg="add mod">
          <ac:chgData name="Florentia Pattidou" userId="1455c80c-ad91-4fa5-86bd-be39061b1110" providerId="ADAL" clId="{4C8395CC-CEE5-4BA6-B97C-65CE7FC1923B}" dt="2026-05-24T20:55:24.094" v="429" actId="571"/>
          <ac:spMkLst>
            <pc:docMk/>
            <pc:sldMk cId="0" sldId="258"/>
            <ac:spMk id="3" creationId="{60605EFB-D3F1-B6A6-2ABA-C72DDC2BC62B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5:14.816" v="426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5:29.575" v="431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5:34.114" v="432" actId="10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8:31.463" v="14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9:24.169" v="22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5:40.611" v="433" actId="271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9:29.817" v="27" actId="40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9:32.957" v="30" actId="40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5:56.408" v="436" actId="2711"/>
          <ac:spMkLst>
            <pc:docMk/>
            <pc:sldMk cId="0" sldId="258"/>
            <ac:spMk id="2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2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3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9.812" v="439" actId="2711"/>
          <ac:spMkLst>
            <pc:docMk/>
            <pc:sldMk cId="0" sldId="258"/>
            <ac:spMk id="3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3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22.917" v="440" actId="2711"/>
          <ac:spMkLst>
            <pc:docMk/>
            <pc:sldMk cId="0" sldId="258"/>
            <ac:spMk id="3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3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3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3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3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51.290" v="443" actId="255"/>
          <ac:spMkLst>
            <pc:docMk/>
            <pc:sldMk cId="0" sldId="258"/>
            <ac:spMk id="4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11.670" v="438" actId="255"/>
          <ac:spMkLst>
            <pc:docMk/>
            <pc:sldMk cId="0" sldId="258"/>
            <ac:spMk id="4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56:32.106" v="442" actId="2711"/>
          <ac:spMkLst>
            <pc:docMk/>
            <pc:sldMk cId="0" sldId="258"/>
            <ac:spMk id="43" creationId="{00000000-0000-0000-0000-000000000000}"/>
          </ac:spMkLst>
        </pc:spChg>
        <pc:spChg chg="del mod">
          <ac:chgData name="Florentia Pattidou" userId="1455c80c-ad91-4fa5-86bd-be39061b1110" providerId="ADAL" clId="{4C8395CC-CEE5-4BA6-B97C-65CE7FC1923B}" dt="2026-05-24T20:50:51.581" v="40" actId="478"/>
          <ac:spMkLst>
            <pc:docMk/>
            <pc:sldMk cId="0" sldId="258"/>
            <ac:spMk id="44" creationId="{00000000-0000-0000-0000-000000000000}"/>
          </ac:spMkLst>
        </pc:spChg>
        <pc:spChg chg="add mod">
          <ac:chgData name="Florentia Pattidou" userId="1455c80c-ad91-4fa5-86bd-be39061b1110" providerId="ADAL" clId="{4C8395CC-CEE5-4BA6-B97C-65CE7FC1923B}" dt="2026-05-24T20:55:24.094" v="429" actId="571"/>
          <ac:spMkLst>
            <pc:docMk/>
            <pc:sldMk cId="0" sldId="258"/>
            <ac:spMk id="45" creationId="{8B46F891-B14B-7541-4232-D44CD4F0DD72}"/>
          </ac:spMkLst>
        </pc:spChg>
      </pc:sldChg>
      <pc:sldChg chg="delSp modSp mod modNotesTx">
        <pc:chgData name="Florentia Pattidou" userId="1455c80c-ad91-4fa5-86bd-be39061b1110" providerId="ADAL" clId="{4C8395CC-CEE5-4BA6-B97C-65CE7FC1923B}" dt="2026-05-24T20:59:17.209" v="483" actId="20577"/>
        <pc:sldMkLst>
          <pc:docMk/>
          <pc:sldMk cId="0" sldId="259"/>
        </pc:sldMkLst>
        <pc:spChg chg="mod">
          <ac:chgData name="Florentia Pattidou" userId="1455c80c-ad91-4fa5-86bd-be39061b1110" providerId="ADAL" clId="{4C8395CC-CEE5-4BA6-B97C-65CE7FC1923B}" dt="2026-05-24T20:49:42.323" v="31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0:49:45.070" v="32" actId="403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Florentia Pattidou" userId="1455c80c-ad91-4fa5-86bd-be39061b1110" providerId="ADAL" clId="{4C8395CC-CEE5-4BA6-B97C-65CE7FC1923B}" dt="2026-05-24T20:50:59.423" v="41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 modNotesTx">
        <pc:chgData name="Florentia Pattidou" userId="1455c80c-ad91-4fa5-86bd-be39061b1110" providerId="ADAL" clId="{4C8395CC-CEE5-4BA6-B97C-65CE7FC1923B}" dt="2026-05-24T21:00:04.861" v="489" actId="20577"/>
        <pc:sldMkLst>
          <pc:docMk/>
          <pc:sldMk cId="0" sldId="260"/>
        </pc:sldMkLst>
        <pc:spChg chg="del">
          <ac:chgData name="Florentia Pattidou" userId="1455c80c-ad91-4fa5-86bd-be39061b1110" providerId="ADAL" clId="{4C8395CC-CEE5-4BA6-B97C-65CE7FC1923B}" dt="2026-05-24T20:51:03.671" v="42" actId="478"/>
          <ac:spMkLst>
            <pc:docMk/>
            <pc:sldMk cId="0" sldId="260"/>
            <ac:spMk id="7" creationId="{00000000-0000-0000-0000-000000000000}"/>
          </ac:spMkLst>
        </pc:spChg>
      </pc:sldChg>
      <pc:sldChg chg="delSp mod modNotesTx">
        <pc:chgData name="Florentia Pattidou" userId="1455c80c-ad91-4fa5-86bd-be39061b1110" providerId="ADAL" clId="{4C8395CC-CEE5-4BA6-B97C-65CE7FC1923B}" dt="2026-05-24T21:02:48.250" v="525" actId="20577"/>
        <pc:sldMkLst>
          <pc:docMk/>
          <pc:sldMk cId="0" sldId="261"/>
        </pc:sldMkLst>
        <pc:spChg chg="del">
          <ac:chgData name="Florentia Pattidou" userId="1455c80c-ad91-4fa5-86bd-be39061b1110" providerId="ADAL" clId="{4C8395CC-CEE5-4BA6-B97C-65CE7FC1923B}" dt="2026-05-24T20:51:07.478" v="43" actId="478"/>
          <ac:spMkLst>
            <pc:docMk/>
            <pc:sldMk cId="0" sldId="261"/>
            <ac:spMk id="7" creationId="{00000000-0000-0000-0000-000000000000}"/>
          </ac:spMkLst>
        </pc:spChg>
      </pc:sldChg>
      <pc:sldChg chg="delSp modSp mod">
        <pc:chgData name="Florentia Pattidou" userId="1455c80c-ad91-4fa5-86bd-be39061b1110" providerId="ADAL" clId="{4C8395CC-CEE5-4BA6-B97C-65CE7FC1923B}" dt="2026-05-24T21:01:14.555" v="500" actId="403"/>
        <pc:sldMkLst>
          <pc:docMk/>
          <pc:sldMk cId="0" sldId="262"/>
        </pc:sldMkLst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2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2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3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3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5.479" v="495" actId="14100"/>
          <ac:spMkLst>
            <pc:docMk/>
            <pc:sldMk cId="0" sldId="262"/>
            <ac:spMk id="3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3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14.555" v="500" actId="403"/>
          <ac:spMkLst>
            <pc:docMk/>
            <pc:sldMk cId="0" sldId="262"/>
            <ac:spMk id="4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0:44.415" v="494" actId="14100"/>
          <ac:spMkLst>
            <pc:docMk/>
            <pc:sldMk cId="0" sldId="262"/>
            <ac:spMk id="43" creationId="{00000000-0000-0000-0000-000000000000}"/>
          </ac:spMkLst>
        </pc:spChg>
        <pc:spChg chg="del">
          <ac:chgData name="Florentia Pattidou" userId="1455c80c-ad91-4fa5-86bd-be39061b1110" providerId="ADAL" clId="{4C8395CC-CEE5-4BA6-B97C-65CE7FC1923B}" dt="2026-05-24T20:51:13.481" v="44" actId="478"/>
          <ac:spMkLst>
            <pc:docMk/>
            <pc:sldMk cId="0" sldId="262"/>
            <ac:spMk id="44" creationId="{00000000-0000-0000-0000-000000000000}"/>
          </ac:spMkLst>
        </pc:spChg>
      </pc:sldChg>
      <pc:sldChg chg="delSp modSp mod">
        <pc:chgData name="Florentia Pattidou" userId="1455c80c-ad91-4fa5-86bd-be39061b1110" providerId="ADAL" clId="{4C8395CC-CEE5-4BA6-B97C-65CE7FC1923B}" dt="2026-05-24T21:01:48.123" v="508" actId="404"/>
        <pc:sldMkLst>
          <pc:docMk/>
          <pc:sldMk cId="0" sldId="263"/>
        </pc:sldMkLst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8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2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25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3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4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45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51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48.123" v="508" actId="404"/>
          <ac:spMkLst>
            <pc:docMk/>
            <pc:sldMk cId="0" sldId="263"/>
            <ac:spMk id="54" creationId="{00000000-0000-0000-0000-000000000000}"/>
          </ac:spMkLst>
        </pc:spChg>
        <pc:spChg chg="del">
          <ac:chgData name="Florentia Pattidou" userId="1455c80c-ad91-4fa5-86bd-be39061b1110" providerId="ADAL" clId="{4C8395CC-CEE5-4BA6-B97C-65CE7FC1923B}" dt="2026-05-24T20:51:19.892" v="45" actId="478"/>
          <ac:spMkLst>
            <pc:docMk/>
            <pc:sldMk cId="0" sldId="263"/>
            <ac:spMk id="56" creationId="{00000000-0000-0000-0000-000000000000}"/>
          </ac:spMkLst>
        </pc:spChg>
      </pc:sldChg>
      <pc:sldChg chg="delSp modSp mod">
        <pc:chgData name="Florentia Pattidou" userId="1455c80c-ad91-4fa5-86bd-be39061b1110" providerId="ADAL" clId="{4C8395CC-CEE5-4BA6-B97C-65CE7FC1923B}" dt="2026-05-24T21:01:58.160" v="511" actId="403"/>
        <pc:sldMkLst>
          <pc:docMk/>
          <pc:sldMk cId="0" sldId="264"/>
        </pc:sldMkLst>
        <pc:spChg chg="mod">
          <ac:chgData name="Florentia Pattidou" userId="1455c80c-ad91-4fa5-86bd-be39061b1110" providerId="ADAL" clId="{4C8395CC-CEE5-4BA6-B97C-65CE7FC1923B}" dt="2026-05-24T21:01:58.160" v="511" actId="403"/>
          <ac:spMkLst>
            <pc:docMk/>
            <pc:sldMk cId="0" sldId="264"/>
            <ac:spMk id="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1:58.160" v="511" actId="403"/>
          <ac:spMkLst>
            <pc:docMk/>
            <pc:sldMk cId="0" sldId="264"/>
            <ac:spMk id="5" creationId="{00000000-0000-0000-0000-000000000000}"/>
          </ac:spMkLst>
        </pc:spChg>
        <pc:spChg chg="del">
          <ac:chgData name="Florentia Pattidou" userId="1455c80c-ad91-4fa5-86bd-be39061b1110" providerId="ADAL" clId="{4C8395CC-CEE5-4BA6-B97C-65CE7FC1923B}" dt="2026-05-24T20:51:24.121" v="46" actId="478"/>
          <ac:spMkLst>
            <pc:docMk/>
            <pc:sldMk cId="0" sldId="264"/>
            <ac:spMk id="8" creationId="{00000000-0000-0000-0000-000000000000}"/>
          </ac:spMkLst>
        </pc:spChg>
      </pc:sldChg>
      <pc:sldChg chg="delSp mod">
        <pc:chgData name="Florentia Pattidou" userId="1455c80c-ad91-4fa5-86bd-be39061b1110" providerId="ADAL" clId="{4C8395CC-CEE5-4BA6-B97C-65CE7FC1923B}" dt="2026-05-24T20:51:28.740" v="47" actId="478"/>
        <pc:sldMkLst>
          <pc:docMk/>
          <pc:sldMk cId="0" sldId="265"/>
        </pc:sldMkLst>
        <pc:spChg chg="del">
          <ac:chgData name="Florentia Pattidou" userId="1455c80c-ad91-4fa5-86bd-be39061b1110" providerId="ADAL" clId="{4C8395CC-CEE5-4BA6-B97C-65CE7FC1923B}" dt="2026-05-24T20:51:28.740" v="47" actId="478"/>
          <ac:spMkLst>
            <pc:docMk/>
            <pc:sldMk cId="0" sldId="265"/>
            <ac:spMk id="5" creationId="{00000000-0000-0000-0000-000000000000}"/>
          </ac:spMkLst>
        </pc:spChg>
      </pc:sldChg>
      <pc:sldChg chg="delSp modSp mod">
        <pc:chgData name="Florentia Pattidou" userId="1455c80c-ad91-4fa5-86bd-be39061b1110" providerId="ADAL" clId="{4C8395CC-CEE5-4BA6-B97C-65CE7FC1923B}" dt="2026-05-24T21:02:14.595" v="514" actId="404"/>
        <pc:sldMkLst>
          <pc:docMk/>
          <pc:sldMk cId="0" sldId="266"/>
        </pc:sldMkLst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14.595" v="514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19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22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26" creationId="{00000000-0000-0000-0000-000000000000}"/>
          </ac:spMkLst>
        </pc:spChg>
        <pc:spChg chg="mod">
          <ac:chgData name="Florentia Pattidou" userId="1455c80c-ad91-4fa5-86bd-be39061b1110" providerId="ADAL" clId="{4C8395CC-CEE5-4BA6-B97C-65CE7FC1923B}" dt="2026-05-24T21:02:07.802" v="512" actId="403"/>
          <ac:spMkLst>
            <pc:docMk/>
            <pc:sldMk cId="0" sldId="266"/>
            <ac:spMk id="29" creationId="{00000000-0000-0000-0000-000000000000}"/>
          </ac:spMkLst>
        </pc:spChg>
        <pc:spChg chg="del">
          <ac:chgData name="Florentia Pattidou" userId="1455c80c-ad91-4fa5-86bd-be39061b1110" providerId="ADAL" clId="{4C8395CC-CEE5-4BA6-B97C-65CE7FC1923B}" dt="2026-05-24T20:51:33.212" v="48" actId="478"/>
          <ac:spMkLst>
            <pc:docMk/>
            <pc:sldMk cId="0" sldId="266"/>
            <ac:spMk id="38" creationId="{00000000-0000-0000-0000-000000000000}"/>
          </ac:spMkLst>
        </pc:spChg>
      </pc:sldChg>
      <pc:sldChg chg="delSp mod">
        <pc:chgData name="Florentia Pattidou" userId="1455c80c-ad91-4fa5-86bd-be39061b1110" providerId="ADAL" clId="{4C8395CC-CEE5-4BA6-B97C-65CE7FC1923B}" dt="2026-05-24T20:51:36.984" v="49" actId="478"/>
        <pc:sldMkLst>
          <pc:docMk/>
          <pc:sldMk cId="0" sldId="267"/>
        </pc:sldMkLst>
        <pc:spChg chg="del">
          <ac:chgData name="Florentia Pattidou" userId="1455c80c-ad91-4fa5-86bd-be39061b1110" providerId="ADAL" clId="{4C8395CC-CEE5-4BA6-B97C-65CE7FC1923B}" dt="2026-05-24T20:51:36.984" v="49" actId="478"/>
          <ac:spMkLst>
            <pc:docMk/>
            <pc:sldMk cId="0" sldId="267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1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Το σύστημα μας αφορά την ανίχνευση αντικειμένων, συγκεκριμένα αυτοκίνητα και ανθρώπους, με χρήση του </a:t>
            </a:r>
            <a:r>
              <a:rPr lang="en-US" dirty="0"/>
              <a:t>YOLOv8 </a:t>
            </a:r>
            <a:r>
              <a:rPr lang="el-GR" dirty="0"/>
              <a:t>που θεωρείται αρκετά σταθερό.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Input &amp; Detection:</a:t>
            </a:r>
            <a:endParaRPr lang="en-US" dirty="0"/>
          </a:p>
          <a:p>
            <a:r>
              <a:rPr lang="el-GR" dirty="0"/>
              <a:t>Ξεκινάμε από τα </a:t>
            </a:r>
            <a:r>
              <a:rPr lang="en-US" dirty="0"/>
              <a:t>frames </a:t>
            </a:r>
            <a:r>
              <a:rPr lang="el-GR" dirty="0"/>
              <a:t>του </a:t>
            </a:r>
            <a:r>
              <a:rPr lang="en-US" dirty="0"/>
              <a:t>KITTI dataset, </a:t>
            </a:r>
            <a:r>
              <a:rPr lang="el-GR" dirty="0"/>
              <a:t>κάνουμε </a:t>
            </a:r>
            <a:r>
              <a:rPr lang="en-US" dirty="0"/>
              <a:t>label conversion </a:t>
            </a:r>
            <a:r>
              <a:rPr lang="el-GR" dirty="0"/>
              <a:t>στο </a:t>
            </a:r>
            <a:r>
              <a:rPr lang="en-US" dirty="0"/>
              <a:t>YOLO format, </a:t>
            </a:r>
            <a:r>
              <a:rPr lang="el-GR" dirty="0"/>
              <a:t>και εκπαιδεύουμε ξεχωριστά μοντέλα </a:t>
            </a:r>
            <a:r>
              <a:rPr lang="en-US" dirty="0"/>
              <a:t>YOLOv8s — </a:t>
            </a:r>
            <a:r>
              <a:rPr lang="el-GR" dirty="0"/>
              <a:t>ένα για </a:t>
            </a:r>
            <a:r>
              <a:rPr lang="en-US" dirty="0"/>
              <a:t>cars </a:t>
            </a:r>
            <a:r>
              <a:rPr lang="el-GR" dirty="0"/>
              <a:t>και ένα για </a:t>
            </a:r>
            <a:r>
              <a:rPr lang="en-US" dirty="0"/>
              <a:t>persons — </a:t>
            </a:r>
            <a:r>
              <a:rPr lang="el-GR" dirty="0"/>
              <a:t>ώστε να έχουμε καλύτερη εξειδίκευση ανά κλάση.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Filtering &amp; Post-processing:</a:t>
            </a:r>
            <a:endParaRPr lang="en-US" dirty="0"/>
          </a:p>
          <a:p>
            <a:r>
              <a:rPr lang="el-GR" dirty="0"/>
              <a:t>Μετά την ανίχνευση, εφαρμόζουμε μια σειρά από φίλτρα: </a:t>
            </a:r>
            <a:r>
              <a:rPr lang="en-US" dirty="0"/>
              <a:t>confidence thresholds, size filters, sky cutoff </a:t>
            </a:r>
            <a:r>
              <a:rPr lang="el-GR" dirty="0"/>
              <a:t>για να αγνοούμε </a:t>
            </a:r>
            <a:r>
              <a:rPr lang="en-US" dirty="0"/>
              <a:t>detections </a:t>
            </a:r>
            <a:r>
              <a:rPr lang="el-GR" dirty="0"/>
              <a:t>στον ουρανό, </a:t>
            </a:r>
            <a:r>
              <a:rPr lang="en-US" dirty="0"/>
              <a:t>Greedy NMS </a:t>
            </a:r>
            <a:r>
              <a:rPr lang="el-GR" dirty="0"/>
              <a:t>για </a:t>
            </a:r>
            <a:r>
              <a:rPr lang="en-US" dirty="0"/>
              <a:t>duplicate boxes, </a:t>
            </a:r>
            <a:r>
              <a:rPr lang="el-GR" dirty="0"/>
              <a:t>και </a:t>
            </a:r>
            <a:r>
              <a:rPr lang="en-US" dirty="0" err="1"/>
              <a:t>IoP</a:t>
            </a:r>
            <a:r>
              <a:rPr lang="en-US" dirty="0"/>
              <a:t> overlap filter </a:t>
            </a:r>
            <a:r>
              <a:rPr lang="el-GR" dirty="0"/>
              <a:t>για </a:t>
            </a:r>
            <a:r>
              <a:rPr lang="en-US" dirty="0"/>
              <a:t>conflicts </a:t>
            </a:r>
            <a:r>
              <a:rPr lang="el-GR" dirty="0"/>
              <a:t>μεταξύ </a:t>
            </a:r>
            <a:r>
              <a:rPr lang="en-US" dirty="0"/>
              <a:t>person </a:t>
            </a:r>
            <a:r>
              <a:rPr lang="el-GR" dirty="0"/>
              <a:t>και </a:t>
            </a:r>
            <a:r>
              <a:rPr lang="en-US" dirty="0"/>
              <a:t>car.</a:t>
            </a:r>
          </a:p>
          <a:p>
            <a:endParaRPr lang="en-US" dirty="0"/>
          </a:p>
          <a:p>
            <a:r>
              <a:rPr lang="en-US" b="1" dirty="0"/>
              <a:t>Evaluation </a:t>
            </a:r>
            <a:r>
              <a:rPr lang="el-GR" b="1" dirty="0"/>
              <a:t>με </a:t>
            </a:r>
            <a:r>
              <a:rPr lang="en-US" b="1" dirty="0" err="1"/>
              <a:t>IoU</a:t>
            </a:r>
            <a:r>
              <a:rPr lang="en-US" b="1" dirty="0"/>
              <a:t>:</a:t>
            </a:r>
            <a:endParaRPr lang="en-US" dirty="0"/>
          </a:p>
          <a:p>
            <a:r>
              <a:rPr lang="el-GR" dirty="0"/>
              <a:t>Για την αξιολόγηση χρησιμοποιούμε </a:t>
            </a:r>
            <a:r>
              <a:rPr lang="en-US" dirty="0" err="1"/>
              <a:t>IoU</a:t>
            </a:r>
            <a:r>
              <a:rPr lang="en-US" dirty="0"/>
              <a:t> matching </a:t>
            </a:r>
            <a:r>
              <a:rPr lang="el-GR" dirty="0"/>
              <a:t>με </a:t>
            </a:r>
            <a:r>
              <a:rPr lang="en-US" dirty="0"/>
              <a:t>threshold 0.50 </a:t>
            </a:r>
            <a:r>
              <a:rPr lang="el-GR" dirty="0"/>
              <a:t>έναντι του </a:t>
            </a:r>
            <a:r>
              <a:rPr lang="en-US" dirty="0"/>
              <a:t>KITTI ground truth, </a:t>
            </a:r>
            <a:r>
              <a:rPr lang="el-GR" dirty="0"/>
              <a:t>υπολογίζουμε </a:t>
            </a:r>
            <a:r>
              <a:rPr lang="en-US" dirty="0"/>
              <a:t>TP/FP/FN </a:t>
            </a:r>
            <a:r>
              <a:rPr lang="el-GR" dirty="0"/>
              <a:t>ανά </a:t>
            </a:r>
            <a:r>
              <a:rPr lang="en-US" dirty="0"/>
              <a:t>frame, </a:t>
            </a:r>
            <a:r>
              <a:rPr lang="el-GR" dirty="0"/>
              <a:t>και εξάγουμε </a:t>
            </a:r>
            <a:r>
              <a:rPr lang="en-US" dirty="0"/>
              <a:t>Precision, Recall </a:t>
            </a:r>
            <a:r>
              <a:rPr lang="el-GR" dirty="0"/>
              <a:t>και </a:t>
            </a:r>
            <a:r>
              <a:rPr lang="en-US" dirty="0"/>
              <a:t>F1-score.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Εκπαιδεύσαμε δύο ξεχωριστά μοντέλα </a:t>
            </a:r>
            <a:r>
              <a:rPr lang="en-US" dirty="0"/>
              <a:t>YOLOv8s — </a:t>
            </a:r>
            <a:r>
              <a:rPr lang="el-GR" dirty="0"/>
              <a:t>ένα για </a:t>
            </a:r>
            <a:r>
              <a:rPr lang="en-US" dirty="0"/>
              <a:t>persons </a:t>
            </a:r>
            <a:r>
              <a:rPr lang="el-GR" dirty="0"/>
              <a:t>και ένα για </a:t>
            </a:r>
            <a:r>
              <a:rPr lang="en-US" dirty="0"/>
              <a:t>cars — </a:t>
            </a:r>
            <a:r>
              <a:rPr lang="el-GR" dirty="0"/>
              <a:t>και τα δύο βασισμένα στο </a:t>
            </a:r>
            <a:r>
              <a:rPr lang="en-US" dirty="0"/>
              <a:t>pretrained COCO checkpoint.</a:t>
            </a:r>
          </a:p>
          <a:p>
            <a:endParaRPr lang="en-US" b="1" dirty="0"/>
          </a:p>
          <a:p>
            <a:r>
              <a:rPr lang="en-US" b="1" dirty="0"/>
              <a:t>Person Model: </a:t>
            </a:r>
            <a:r>
              <a:rPr lang="el-GR" dirty="0"/>
              <a:t>Το </a:t>
            </a:r>
            <a:r>
              <a:rPr lang="en-US" dirty="0"/>
              <a:t>person </a:t>
            </a:r>
            <a:r>
              <a:rPr lang="el-GR" dirty="0"/>
              <a:t>μοντέλο εκπαιδεύτηκε με ~2,000 εικόνες για 30 </a:t>
            </a:r>
            <a:r>
              <a:rPr lang="en-US" dirty="0"/>
              <a:t>epochs, </a:t>
            </a:r>
            <a:r>
              <a:rPr lang="el-GR" dirty="0"/>
              <a:t>και πέτυχε </a:t>
            </a:r>
            <a:r>
              <a:rPr lang="en-US" dirty="0"/>
              <a:t>mAP50 </a:t>
            </a:r>
            <a:r>
              <a:rPr lang="en-US" b="1" dirty="0"/>
              <a:t>0.927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Car Model: </a:t>
            </a:r>
            <a:r>
              <a:rPr lang="el-GR" dirty="0"/>
              <a:t>Το </a:t>
            </a:r>
            <a:r>
              <a:rPr lang="en-US" dirty="0"/>
              <a:t>car </a:t>
            </a:r>
            <a:r>
              <a:rPr lang="el-GR" dirty="0"/>
              <a:t>μοντέλο είχε πολύ μεγαλύτερο </a:t>
            </a:r>
            <a:r>
              <a:rPr lang="en-US" dirty="0"/>
              <a:t>dataset — </a:t>
            </a:r>
            <a:r>
              <a:rPr lang="el-GR" dirty="0"/>
              <a:t>περίπου 5,600 εικόνες — εκπαιδεύτηκε για 15 </a:t>
            </a:r>
            <a:r>
              <a:rPr lang="en-US" dirty="0"/>
              <a:t>epochs </a:t>
            </a:r>
            <a:r>
              <a:rPr lang="el-GR" dirty="0"/>
              <a:t>και πέτυχε </a:t>
            </a:r>
            <a:r>
              <a:rPr lang="en-US" dirty="0"/>
              <a:t>mAP50 </a:t>
            </a:r>
            <a:r>
              <a:rPr lang="en-US" b="1" dirty="0"/>
              <a:t>0.969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l-GR" b="1" dirty="0"/>
              <a:t>Γενικά:</a:t>
            </a:r>
            <a:r>
              <a:rPr lang="en-US" b="1" dirty="0"/>
              <a:t> </a:t>
            </a:r>
            <a:r>
              <a:rPr lang="el-GR" dirty="0"/>
              <a:t>Και τα δύο χρησιμοποίησαν </a:t>
            </a:r>
            <a:r>
              <a:rPr lang="en-US" dirty="0" err="1"/>
              <a:t>AdamW</a:t>
            </a:r>
            <a:r>
              <a:rPr lang="en-US" dirty="0"/>
              <a:t> optimizer </a:t>
            </a:r>
            <a:r>
              <a:rPr lang="el-GR" dirty="0"/>
              <a:t>με </a:t>
            </a:r>
            <a:r>
              <a:rPr lang="en-US" dirty="0"/>
              <a:t>learning rate 0.0005, batch size 8, </a:t>
            </a:r>
            <a:r>
              <a:rPr lang="el-GR" dirty="0"/>
              <a:t>και εκπαιδεύτηκαν σε </a:t>
            </a:r>
            <a:r>
              <a:rPr lang="en-US" dirty="0"/>
              <a:t>Tesla T4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1" dirty="0"/>
              <a:t>Γενικά:</a:t>
            </a:r>
            <a:r>
              <a:rPr lang="en-US" b="1" dirty="0"/>
              <a:t> </a:t>
            </a:r>
            <a:r>
              <a:rPr lang="el-GR" dirty="0"/>
              <a:t>Εδώ βλέπουμε τις καμπύλες εκπαίδευσης και για τα δύο μοντέλα — </a:t>
            </a:r>
            <a:r>
              <a:rPr lang="el-GR" dirty="0" err="1"/>
              <a:t>training</a:t>
            </a:r>
            <a:r>
              <a:rPr lang="el-GR" dirty="0"/>
              <a:t> </a:t>
            </a:r>
            <a:r>
              <a:rPr lang="el-GR" dirty="0" err="1"/>
              <a:t>loss</a:t>
            </a:r>
            <a:r>
              <a:rPr lang="el-GR" dirty="0"/>
              <a:t> με κόκκινη διακεκομμένη και </a:t>
            </a:r>
            <a:r>
              <a:rPr lang="el-GR" dirty="0" err="1"/>
              <a:t>validation</a:t>
            </a:r>
            <a:r>
              <a:rPr lang="el-GR" dirty="0"/>
              <a:t> </a:t>
            </a:r>
            <a:r>
              <a:rPr lang="el-GR" dirty="0" err="1"/>
              <a:t>loss</a:t>
            </a:r>
            <a:r>
              <a:rPr lang="el-GR" dirty="0"/>
              <a:t> με μπλε.</a:t>
            </a:r>
            <a:endParaRPr lang="en-US" dirty="0"/>
          </a:p>
          <a:p>
            <a:endParaRPr lang="el-GR" dirty="0"/>
          </a:p>
          <a:p>
            <a:r>
              <a:rPr lang="el-GR" b="1" dirty="0" err="1"/>
              <a:t>Person</a:t>
            </a:r>
            <a:r>
              <a:rPr lang="el-GR" b="1" dirty="0"/>
              <a:t> (αριστερά):</a:t>
            </a:r>
            <a:r>
              <a:rPr lang="en-US" b="1" dirty="0"/>
              <a:t> </a:t>
            </a:r>
            <a:r>
              <a:rPr lang="el-GR" dirty="0"/>
              <a:t>Στο </a:t>
            </a:r>
            <a:r>
              <a:rPr lang="el-GR" dirty="0" err="1"/>
              <a:t>person</a:t>
            </a:r>
            <a:r>
              <a:rPr lang="el-GR" dirty="0"/>
              <a:t> μοντέλο, η </a:t>
            </a:r>
            <a:r>
              <a:rPr lang="el-GR" dirty="0" err="1"/>
              <a:t>validation</a:t>
            </a:r>
            <a:r>
              <a:rPr lang="el-GR" dirty="0"/>
              <a:t> </a:t>
            </a:r>
            <a:r>
              <a:rPr lang="el-GR" dirty="0" err="1"/>
              <a:t>loss</a:t>
            </a:r>
            <a:r>
              <a:rPr lang="el-GR" dirty="0"/>
              <a:t> συγκλίνει ομαλά και σταθεροποιείται γύρω στα 30 </a:t>
            </a:r>
            <a:r>
              <a:rPr lang="el-GR" dirty="0" err="1"/>
              <a:t>epochs</a:t>
            </a:r>
            <a:r>
              <a:rPr lang="el-GR" dirty="0"/>
              <a:t> — το </a:t>
            </a:r>
            <a:r>
              <a:rPr lang="el-GR" dirty="0" err="1"/>
              <a:t>best</a:t>
            </a:r>
            <a:r>
              <a:rPr lang="el-GR" dirty="0"/>
              <a:t> </a:t>
            </a:r>
            <a:r>
              <a:rPr lang="el-GR" dirty="0" err="1"/>
              <a:t>model</a:t>
            </a:r>
            <a:r>
              <a:rPr lang="el-GR" dirty="0"/>
              <a:t> αποθηκεύτηκε στο τέλος της εκπαίδευσης.</a:t>
            </a:r>
            <a:endParaRPr lang="en-US" dirty="0"/>
          </a:p>
          <a:p>
            <a:endParaRPr lang="en-US" b="1" dirty="0"/>
          </a:p>
          <a:p>
            <a:r>
              <a:rPr lang="el-GR" b="1" dirty="0"/>
              <a:t>Car (δεξιά):</a:t>
            </a:r>
            <a:r>
              <a:rPr lang="en-US" b="1" dirty="0"/>
              <a:t> </a:t>
            </a:r>
            <a:r>
              <a:rPr lang="el-GR" dirty="0"/>
              <a:t>Στο </a:t>
            </a:r>
            <a:r>
              <a:rPr lang="el-GR" dirty="0" err="1"/>
              <a:t>car</a:t>
            </a:r>
            <a:r>
              <a:rPr lang="el-GR" dirty="0"/>
              <a:t> μοντέλο η σύγκλιση είναι πιο γρήγορη — μόνο 15 </a:t>
            </a:r>
            <a:r>
              <a:rPr lang="el-GR" dirty="0" err="1"/>
              <a:t>epochs</a:t>
            </a:r>
            <a:r>
              <a:rPr lang="el-GR" dirty="0"/>
              <a:t> χρειάστηκαν για να φτάσουμε στο </a:t>
            </a:r>
            <a:r>
              <a:rPr lang="el-GR" dirty="0" err="1"/>
              <a:t>best</a:t>
            </a:r>
            <a:r>
              <a:rPr lang="el-GR" dirty="0"/>
              <a:t> </a:t>
            </a:r>
            <a:r>
              <a:rPr lang="el-GR" dirty="0" err="1"/>
              <a:t>model</a:t>
            </a:r>
            <a:r>
              <a:rPr lang="el-GR" dirty="0"/>
              <a:t>, κάτι που αναμένεται λόγω του μεγαλύτερου και πιο ομοιόμορφου dataset.</a:t>
            </a:r>
          </a:p>
          <a:p>
            <a:endParaRPr lang="en-US" b="1" dirty="0"/>
          </a:p>
          <a:p>
            <a:r>
              <a:rPr lang="el-GR" b="1" dirty="0"/>
              <a:t>Παρατήρηση:</a:t>
            </a:r>
            <a:r>
              <a:rPr lang="en-US" b="1" dirty="0"/>
              <a:t> </a:t>
            </a:r>
            <a:r>
              <a:rPr lang="el-GR" dirty="0"/>
              <a:t>Και στις δύο περιπτώσεις δεν παρατηρούμε </a:t>
            </a:r>
            <a:r>
              <a:rPr lang="el-GR" dirty="0" err="1"/>
              <a:t>overfitting</a:t>
            </a:r>
            <a:r>
              <a:rPr lang="el-GR" dirty="0"/>
              <a:t> — </a:t>
            </a:r>
            <a:r>
              <a:rPr lang="el-GR" dirty="0" err="1"/>
              <a:t>training</a:t>
            </a:r>
            <a:r>
              <a:rPr lang="el-GR" dirty="0"/>
              <a:t> και </a:t>
            </a:r>
            <a:r>
              <a:rPr lang="el-GR" dirty="0" err="1"/>
              <a:t>validation</a:t>
            </a:r>
            <a:r>
              <a:rPr lang="el-GR" dirty="0"/>
              <a:t> </a:t>
            </a:r>
            <a:r>
              <a:rPr lang="el-GR" dirty="0" err="1"/>
              <a:t>loss</a:t>
            </a:r>
            <a:r>
              <a:rPr lang="el-GR" dirty="0"/>
              <a:t> κινούνται παράλληλα χωρίς απόκλιση.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Εδώ βλέπουμε ένα </a:t>
            </a:r>
            <a:r>
              <a:rPr lang="el-GR" dirty="0" err="1"/>
              <a:t>annotated</a:t>
            </a:r>
            <a:r>
              <a:rPr lang="el-GR" dirty="0"/>
              <a:t> frame από το KITTI </a:t>
            </a:r>
            <a:r>
              <a:rPr lang="el-GR" dirty="0" err="1"/>
              <a:t>sequence</a:t>
            </a:r>
            <a:r>
              <a:rPr lang="el-GR" dirty="0"/>
              <a:t> 0000. Το μοντέλο εντόπισε 3 </a:t>
            </a:r>
            <a:r>
              <a:rPr lang="el-GR" dirty="0" err="1"/>
              <a:t>cars</a:t>
            </a:r>
            <a:r>
              <a:rPr lang="el-GR" dirty="0"/>
              <a:t> με </a:t>
            </a:r>
            <a:r>
              <a:rPr lang="el-GR" dirty="0" err="1"/>
              <a:t>confidence</a:t>
            </a:r>
            <a:r>
              <a:rPr lang="el-GR" dirty="0"/>
              <a:t> </a:t>
            </a:r>
            <a:r>
              <a:rPr lang="el-GR" dirty="0" err="1"/>
              <a:t>scores</a:t>
            </a:r>
            <a:r>
              <a:rPr lang="el-GR" dirty="0"/>
              <a:t> 0.88, 0.91 και 0.86 — τα μπλε </a:t>
            </a:r>
            <a:r>
              <a:rPr lang="el-GR" dirty="0" err="1"/>
              <a:t>bounding</a:t>
            </a:r>
            <a:r>
              <a:rPr lang="el-GR" dirty="0"/>
              <a:t> </a:t>
            </a:r>
            <a:r>
              <a:rPr lang="el-GR" dirty="0" err="1"/>
              <a:t>boxes</a:t>
            </a:r>
            <a:r>
              <a:rPr lang="el-GR" dirty="0"/>
              <a:t>.</a:t>
            </a:r>
          </a:p>
          <a:p>
            <a:endParaRPr lang="en-US" dirty="0"/>
          </a:p>
          <a:p>
            <a:r>
              <a:rPr lang="el-GR" dirty="0"/>
              <a:t>Παρατηρούμε ότι οι ανιχνεύσεις είναι αρκετά ακριβείς ακόμα και σε </a:t>
            </a:r>
            <a:r>
              <a:rPr lang="el-GR" dirty="0" err="1"/>
              <a:t>overlapping</a:t>
            </a:r>
            <a:r>
              <a:rPr lang="el-GR" dirty="0"/>
              <a:t> οχήματα, όπου τα δύο κοντινά </a:t>
            </a:r>
            <a:r>
              <a:rPr lang="el-GR" dirty="0" err="1"/>
              <a:t>cars</a:t>
            </a:r>
            <a:r>
              <a:rPr lang="el-GR" dirty="0"/>
              <a:t> στο κέντρο ανιχνεύονται ξεχωριστά.</a:t>
            </a:r>
          </a:p>
          <a:p>
            <a:endParaRPr lang="en-US" dirty="0"/>
          </a:p>
          <a:p>
            <a:r>
              <a:rPr lang="el-GR" dirty="0"/>
              <a:t>Στο συγκεκριμένο frame δεν υπάρχουν </a:t>
            </a:r>
            <a:r>
              <a:rPr lang="el-GR" dirty="0" err="1"/>
              <a:t>persons</a:t>
            </a:r>
            <a:r>
              <a:rPr lang="el-GR" dirty="0"/>
              <a:t>, κάτι που το μοντέλο αναγνωρίζει σωστά — </a:t>
            </a:r>
            <a:r>
              <a:rPr lang="el-GR" dirty="0" err="1"/>
              <a:t>Persons</a:t>
            </a:r>
            <a:r>
              <a:rPr lang="el-GR" dirty="0"/>
              <a:t>: 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Εδώ βλέπουμε τον αριθμό των ανιχνεύσεων ανά frame σε ολόκληρο το </a:t>
            </a:r>
            <a:r>
              <a:rPr lang="el-GR" dirty="0" err="1"/>
              <a:t>sequence</a:t>
            </a:r>
            <a:r>
              <a:rPr lang="el-GR" dirty="0"/>
              <a:t> 0001 — 447 </a:t>
            </a:r>
            <a:r>
              <a:rPr lang="el-GR" dirty="0" err="1"/>
              <a:t>frames</a:t>
            </a:r>
            <a:r>
              <a:rPr lang="el-GR" dirty="0"/>
              <a:t> συνολικά.</a:t>
            </a:r>
          </a:p>
          <a:p>
            <a:endParaRPr lang="el-GR" dirty="0"/>
          </a:p>
          <a:p>
            <a:r>
              <a:rPr lang="el-GR" dirty="0"/>
              <a:t>Το πορτοκαλί δείχνει τα </a:t>
            </a:r>
            <a:r>
              <a:rPr lang="el-GR" dirty="0" err="1"/>
              <a:t>cars</a:t>
            </a:r>
            <a:r>
              <a:rPr lang="el-GR" dirty="0"/>
              <a:t>, το μπλε τα </a:t>
            </a:r>
            <a:r>
              <a:rPr lang="el-GR" dirty="0" err="1"/>
              <a:t>persons</a:t>
            </a:r>
            <a:r>
              <a:rPr lang="el-GR" dirty="0"/>
              <a:t>, και το πράσινο το σύνολο. Παρατηρούμε ότι τα </a:t>
            </a:r>
            <a:r>
              <a:rPr lang="el-GR" dirty="0" err="1"/>
              <a:t>cars</a:t>
            </a:r>
            <a:r>
              <a:rPr lang="el-GR" dirty="0"/>
              <a:t> κυριαρχούν σε όλη τη διάρκεια, με μέσο όρο 5-7 ανιχνεύσεις ανά frame.</a:t>
            </a:r>
          </a:p>
          <a:p>
            <a:endParaRPr lang="el-GR" dirty="0"/>
          </a:p>
          <a:p>
            <a:r>
              <a:rPr lang="el-GR" dirty="0"/>
              <a:t>Τα </a:t>
            </a:r>
            <a:r>
              <a:rPr lang="el-GR" dirty="0" err="1"/>
              <a:t>persons</a:t>
            </a:r>
            <a:r>
              <a:rPr lang="el-GR" dirty="0"/>
              <a:t> εμφανίζονται σε δύο συγκεκριμένες περιοχές — γύρω στα </a:t>
            </a:r>
            <a:r>
              <a:rPr lang="el-GR" dirty="0" err="1"/>
              <a:t>frames</a:t>
            </a:r>
            <a:r>
              <a:rPr lang="el-GR" dirty="0"/>
              <a:t> 120-160 και 300-380 — που αντιστοιχούν πιθανώς σε αστικά τμήματα της διαδρομής.</a:t>
            </a:r>
          </a:p>
          <a:p>
            <a:endParaRPr lang="el-GR" dirty="0"/>
          </a:p>
          <a:p>
            <a:r>
              <a:rPr lang="el-GR" dirty="0"/>
              <a:t>Προς το τέλος του </a:t>
            </a:r>
            <a:r>
              <a:rPr lang="el-GR" dirty="0" err="1"/>
              <a:t>sequence</a:t>
            </a:r>
            <a:r>
              <a:rPr lang="el-GR" dirty="0"/>
              <a:t>, γύρω στο frame 400+, οι ανιχνεύσεις μηδενίζονται — πιθανώς η κάμερα βγαίνει από πυκνή κυκλοφορία.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Αρχικά αξιολογήσαμε το </a:t>
            </a:r>
            <a:r>
              <a:rPr lang="el-GR" dirty="0" err="1"/>
              <a:t>pretrained</a:t>
            </a:r>
            <a:r>
              <a:rPr lang="el-GR" dirty="0"/>
              <a:t> YOLOv8s χωρίς </a:t>
            </a:r>
            <a:r>
              <a:rPr lang="el-GR" dirty="0" err="1"/>
              <a:t>fine-tuning</a:t>
            </a:r>
            <a:r>
              <a:rPr lang="el-GR" dirty="0"/>
              <a:t>, χρησιμοποιώντας μόνο post-</a:t>
            </a:r>
            <a:r>
              <a:rPr lang="el-GR" dirty="0" err="1"/>
              <a:t>processing</a:t>
            </a:r>
            <a:r>
              <a:rPr lang="el-GR" dirty="0"/>
              <a:t> φίλτρα για να </a:t>
            </a:r>
            <a:r>
              <a:rPr lang="el-GR" dirty="0" err="1"/>
              <a:t>μειωσουμε</a:t>
            </a:r>
            <a:r>
              <a:rPr lang="el-GR" dirty="0"/>
              <a:t> τα </a:t>
            </a:r>
            <a:r>
              <a:rPr lang="el-GR" dirty="0" err="1"/>
              <a:t>false</a:t>
            </a:r>
            <a:r>
              <a:rPr lang="el-GR" dirty="0"/>
              <a:t> </a:t>
            </a:r>
            <a:r>
              <a:rPr lang="el-GR" dirty="0" err="1"/>
              <a:t>detections</a:t>
            </a:r>
            <a:r>
              <a:rPr lang="el-GR" dirty="0"/>
              <a:t>.</a:t>
            </a:r>
          </a:p>
          <a:p>
            <a:r>
              <a:rPr lang="el-GR" dirty="0"/>
              <a:t>Το σύστημα αρχικά πέτυχε συνολικό F1-score περίπου 0.75.</a:t>
            </a:r>
          </a:p>
          <a:p>
            <a:r>
              <a:rPr lang="el-GR" dirty="0"/>
              <a:t>Για την κατηγορία </a:t>
            </a:r>
            <a:r>
              <a:rPr lang="el-GR" dirty="0" err="1"/>
              <a:t>car</a:t>
            </a:r>
            <a:r>
              <a:rPr lang="el-GR" dirty="0"/>
              <a:t>, η απόδοση ήταν σχετικά καλή, με F1 περίπου 0.76, επειδή τα αυτοκίνητα είναι μεγαλύτερα αντικείμενα και εμφανίζονται συχνότερα στο </a:t>
            </a:r>
            <a:r>
              <a:rPr lang="el-GR" dirty="0" err="1"/>
              <a:t>dataset</a:t>
            </a:r>
            <a:r>
              <a:rPr lang="el-GR" dirty="0"/>
              <a:t>.</a:t>
            </a:r>
          </a:p>
          <a:p>
            <a:r>
              <a:rPr lang="el-GR" dirty="0"/>
              <a:t>Ωστόσο, στην κατηγορία </a:t>
            </a:r>
            <a:r>
              <a:rPr lang="el-GR" dirty="0" err="1"/>
              <a:t>person</a:t>
            </a:r>
            <a:r>
              <a:rPr lang="el-GR" dirty="0"/>
              <a:t> εμφανίστηκε σημαντικό πρόβλημα. Παρατηρήσαμε υψηλό </a:t>
            </a:r>
            <a:r>
              <a:rPr lang="el-GR" dirty="0" err="1"/>
              <a:t>precision</a:t>
            </a:r>
            <a:r>
              <a:rPr lang="el-GR" dirty="0"/>
              <a:t> στους </a:t>
            </a:r>
            <a:r>
              <a:rPr lang="el-GR" dirty="0" err="1"/>
              <a:t>pedestrians</a:t>
            </a:r>
            <a:r>
              <a:rPr lang="el-GR" dirty="0"/>
              <a:t> αλλά πολύ χαμηλό </a:t>
            </a:r>
            <a:r>
              <a:rPr lang="el-GR" dirty="0" err="1"/>
              <a:t>recall</a:t>
            </a:r>
            <a:r>
              <a:rPr lang="el-GR" dirty="0"/>
              <a:t>, που σημαίνει ότι το μοντέλο έβρισκε λίγους ανθρώπους αλλά όσους έβρισκε ήταν συνήθως σωστοί.</a:t>
            </a:r>
          </a:p>
          <a:p>
            <a:r>
              <a:rPr lang="el-GR" dirty="0"/>
              <a:t>Αυτό ήταν το βασικό κίνητρο ώστε να προχωρήσουμε σε </a:t>
            </a:r>
            <a:r>
              <a:rPr lang="el-GR" dirty="0" err="1"/>
              <a:t>fine-tuning</a:t>
            </a:r>
            <a:r>
              <a:rPr lang="el-GR" dirty="0"/>
              <a:t> ανά κλάση.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Έτσι εφαρμόσαμε ξεχωριστό </a:t>
            </a:r>
            <a:r>
              <a:rPr lang="el-GR" dirty="0" err="1"/>
              <a:t>fine-tuning</a:t>
            </a:r>
            <a:r>
              <a:rPr lang="el-GR" dirty="0"/>
              <a:t> για </a:t>
            </a:r>
            <a:r>
              <a:rPr lang="el-GR" dirty="0" err="1"/>
              <a:t>pedestrians</a:t>
            </a:r>
            <a:r>
              <a:rPr lang="el-GR" dirty="0"/>
              <a:t> και </a:t>
            </a:r>
            <a:r>
              <a:rPr lang="el-GR" dirty="0" err="1"/>
              <a:t>vehicles</a:t>
            </a:r>
            <a:r>
              <a:rPr lang="el-GR" dirty="0"/>
              <a:t>.</a:t>
            </a:r>
          </a:p>
          <a:p>
            <a:r>
              <a:rPr lang="el-GR" dirty="0"/>
              <a:t>Η λογική πίσω από αυτή την επιλογή ήταν ότι οι δύο κλάσεις έχουν πολύ διαφορετικά χαρακτηριστικά και επίσης υπάρχει </a:t>
            </a:r>
            <a:r>
              <a:rPr lang="el-GR" dirty="0" err="1"/>
              <a:t>class</a:t>
            </a:r>
            <a:r>
              <a:rPr lang="el-GR" dirty="0"/>
              <a:t> </a:t>
            </a:r>
            <a:r>
              <a:rPr lang="el-GR" dirty="0" err="1"/>
              <a:t>imbalance</a:t>
            </a:r>
            <a:r>
              <a:rPr lang="el-GR" dirty="0"/>
              <a:t> στο KITTI </a:t>
            </a:r>
            <a:r>
              <a:rPr lang="el-GR" dirty="0" err="1"/>
              <a:t>dataset</a:t>
            </a:r>
            <a:r>
              <a:rPr lang="el-GR" dirty="0"/>
              <a:t>, αφού υπάρχουν πολύ περισσότερα </a:t>
            </a:r>
            <a:r>
              <a:rPr lang="el-GR" dirty="0" err="1"/>
              <a:t>cars</a:t>
            </a:r>
            <a:r>
              <a:rPr lang="el-GR" dirty="0"/>
              <a:t> από </a:t>
            </a:r>
            <a:r>
              <a:rPr lang="el-GR" dirty="0" err="1"/>
              <a:t>persons</a:t>
            </a:r>
            <a:r>
              <a:rPr lang="el-GR" dirty="0"/>
              <a:t>.</a:t>
            </a:r>
          </a:p>
          <a:p>
            <a:r>
              <a:rPr lang="el-GR" dirty="0"/>
              <a:t>Μετά το </a:t>
            </a:r>
            <a:r>
              <a:rPr lang="el-GR" dirty="0" err="1"/>
              <a:t>fine-tuning</a:t>
            </a:r>
            <a:r>
              <a:rPr lang="el-GR" dirty="0"/>
              <a:t> βλέπουμε σημαντική βελτίωση.</a:t>
            </a:r>
          </a:p>
          <a:p>
            <a:r>
              <a:rPr lang="el-GR" dirty="0"/>
              <a:t>Το συνολικό F1-score αυξήθηκε και έφτασε περίπου στο 0.90.</a:t>
            </a:r>
          </a:p>
          <a:p>
            <a:r>
              <a:rPr lang="el-GR" dirty="0"/>
              <a:t>Για τα αυτοκίνητα, το F1 έφτασε το 0.897, ενώ για τους πεζούς το F1 ανέβηκε στο 0.902.</a:t>
            </a:r>
          </a:p>
          <a:p>
            <a:r>
              <a:rPr lang="el-GR" dirty="0"/>
              <a:t>Επιπλέον, τα συνολικά </a:t>
            </a:r>
            <a:r>
              <a:rPr lang="el-GR" dirty="0" err="1"/>
              <a:t>true</a:t>
            </a:r>
            <a:r>
              <a:rPr lang="el-GR" dirty="0"/>
              <a:t> </a:t>
            </a:r>
            <a:r>
              <a:rPr lang="el-GR" dirty="0" err="1"/>
              <a:t>positives</a:t>
            </a:r>
            <a:r>
              <a:rPr lang="el-GR" dirty="0"/>
              <a:t> αυξήθηκαν στα 2269 και η συνολική ακρίβεια του συστήματος έφτασε περίπου 85%.</a:t>
            </a:r>
          </a:p>
          <a:p>
            <a:r>
              <a:rPr lang="el-GR" dirty="0"/>
              <a:t>Η μεγαλύτερη βελτίωση εμφανίζεται στους πεζούς όπου το </a:t>
            </a:r>
            <a:r>
              <a:rPr lang="el-GR" dirty="0" err="1"/>
              <a:t>recall</a:t>
            </a:r>
            <a:r>
              <a:rPr lang="el-GR" dirty="0"/>
              <a:t> αυξήθηκε από 0.34 σε περίπου 0.87 πράγμα που σημαίνει ότι πλέον το μοντέλο εντοπίζει την πλειοψηφία των πεζών.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Εδώ παρουσιάζονται γραφικά οι βασικές μετρικές.</a:t>
            </a:r>
          </a:p>
          <a:p>
            <a:r>
              <a:rPr lang="el-GR" dirty="0"/>
              <a:t>Στο αριστερό γράφημα βλέπουμε ότι το F1-score είναι σχεδόν ίδιο μεταξύ </a:t>
            </a:r>
            <a:r>
              <a:rPr lang="el-GR" dirty="0" err="1"/>
              <a:t>person</a:t>
            </a:r>
            <a:r>
              <a:rPr lang="el-GR" dirty="0"/>
              <a:t> και </a:t>
            </a:r>
            <a:r>
              <a:rPr lang="el-GR" dirty="0" err="1"/>
              <a:t>car</a:t>
            </a:r>
            <a:r>
              <a:rPr lang="el-GR" dirty="0"/>
              <a:t>, περίπου 0.90 και για τις δύο κλάσεις.</a:t>
            </a:r>
          </a:p>
          <a:p>
            <a:r>
              <a:rPr lang="el-GR" dirty="0"/>
              <a:t>Αυτό δείχνει ότι τα δύο ξεχωριστά μοντέλα εκπαιδεύτηκαν αποτελεσματικά.</a:t>
            </a:r>
          </a:p>
          <a:p>
            <a:r>
              <a:rPr lang="el-GR" dirty="0"/>
              <a:t>Στο δεξί γράφημα συγκρίνουμε </a:t>
            </a:r>
            <a:r>
              <a:rPr lang="el-GR" dirty="0" err="1"/>
              <a:t>precision</a:t>
            </a:r>
            <a:r>
              <a:rPr lang="el-GR" dirty="0"/>
              <a:t>, </a:t>
            </a:r>
            <a:r>
              <a:rPr lang="el-GR" dirty="0" err="1"/>
              <a:t>recall</a:t>
            </a:r>
            <a:r>
              <a:rPr lang="el-GR" dirty="0"/>
              <a:t> και F1.</a:t>
            </a:r>
          </a:p>
          <a:p>
            <a:r>
              <a:rPr lang="el-GR" dirty="0"/>
              <a:t>Παρατηρούμε ότι το </a:t>
            </a:r>
            <a:r>
              <a:rPr lang="el-GR" dirty="0" err="1"/>
              <a:t>precision</a:t>
            </a:r>
            <a:r>
              <a:rPr lang="el-GR" dirty="0"/>
              <a:t> παραμένει ελαφρώς υψηλότερο από το </a:t>
            </a:r>
            <a:r>
              <a:rPr lang="el-GR" dirty="0" err="1"/>
              <a:t>recall</a:t>
            </a:r>
            <a:r>
              <a:rPr lang="el-GR" dirty="0"/>
              <a:t>, κάτι αναμενόμενο λόγω </a:t>
            </a:r>
            <a:r>
              <a:rPr lang="el-GR" dirty="0" err="1"/>
              <a:t>occlusion</a:t>
            </a:r>
            <a:r>
              <a:rPr lang="el-GR" dirty="0"/>
              <a:t>, μικρών αντικειμένων και μακρινών </a:t>
            </a:r>
            <a:r>
              <a:rPr lang="el-GR" dirty="0" err="1"/>
              <a:t>pedestrians</a:t>
            </a:r>
            <a:r>
              <a:rPr lang="el-GR" dirty="0"/>
              <a:t>.</a:t>
            </a:r>
          </a:p>
          <a:p>
            <a:r>
              <a:rPr lang="el-GR" dirty="0"/>
              <a:t>Παρόλα αυτά, η ισορροπία μεταξύ </a:t>
            </a:r>
            <a:r>
              <a:rPr lang="el-GR" dirty="0" err="1"/>
              <a:t>precision</a:t>
            </a:r>
            <a:r>
              <a:rPr lang="el-GR" dirty="0"/>
              <a:t> και </a:t>
            </a:r>
            <a:r>
              <a:rPr lang="el-GR" dirty="0" err="1"/>
              <a:t>recall</a:t>
            </a:r>
            <a:r>
              <a:rPr lang="el-GR" dirty="0"/>
              <a:t> δείχνει ότι το μοντέλο γενικεύει καλά.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Το συγκεκριμένο γράφημα δείχνει την κατανομή True </a:t>
            </a:r>
            <a:r>
              <a:rPr lang="el-GR" dirty="0" err="1"/>
              <a:t>Positives</a:t>
            </a:r>
            <a:r>
              <a:rPr lang="el-GR" dirty="0"/>
              <a:t>, False </a:t>
            </a:r>
            <a:r>
              <a:rPr lang="el-GR" dirty="0" err="1"/>
              <a:t>Positives</a:t>
            </a:r>
            <a:r>
              <a:rPr lang="el-GR" dirty="0"/>
              <a:t> και False </a:t>
            </a:r>
            <a:r>
              <a:rPr lang="el-GR" dirty="0" err="1"/>
              <a:t>Negatives</a:t>
            </a:r>
            <a:r>
              <a:rPr lang="el-GR" dirty="0"/>
              <a:t>.</a:t>
            </a:r>
          </a:p>
          <a:p>
            <a:r>
              <a:rPr lang="el-GR" dirty="0"/>
              <a:t>Παρατηρούμε έντονο </a:t>
            </a:r>
            <a:r>
              <a:rPr lang="el-GR" dirty="0" err="1"/>
              <a:t>class</a:t>
            </a:r>
            <a:r>
              <a:rPr lang="el-GR" dirty="0"/>
              <a:t> </a:t>
            </a:r>
            <a:r>
              <a:rPr lang="el-GR" dirty="0" err="1"/>
              <a:t>imbalance</a:t>
            </a:r>
            <a:r>
              <a:rPr lang="el-GR" dirty="0"/>
              <a:t>, καθώς τα </a:t>
            </a:r>
            <a:r>
              <a:rPr lang="el-GR" dirty="0" err="1"/>
              <a:t>cars</a:t>
            </a:r>
            <a:r>
              <a:rPr lang="el-GR" dirty="0"/>
              <a:t> εμφανίζονται πολύ συχνότερα στο </a:t>
            </a:r>
            <a:r>
              <a:rPr lang="el-GR" dirty="0" err="1"/>
              <a:t>dataset</a:t>
            </a:r>
            <a:r>
              <a:rPr lang="el-GR" dirty="0"/>
              <a:t>.</a:t>
            </a:r>
          </a:p>
          <a:p>
            <a:r>
              <a:rPr lang="el-GR" dirty="0"/>
              <a:t>Για τα αυτοκίνητα έχουμε πάνω από 2100 σωστές ανιχνεύσεις, ενώ οι </a:t>
            </a:r>
            <a:r>
              <a:rPr lang="el-GR" dirty="0" err="1"/>
              <a:t>pedestrians</a:t>
            </a:r>
            <a:r>
              <a:rPr lang="el-GR" dirty="0"/>
              <a:t> είναι περίπου 90.</a:t>
            </a:r>
          </a:p>
          <a:p>
            <a:r>
              <a:rPr lang="el-GR" dirty="0"/>
              <a:t>Παρόλα αυτά, τα </a:t>
            </a:r>
            <a:r>
              <a:rPr lang="el-GR" dirty="0" err="1"/>
              <a:t>false</a:t>
            </a:r>
            <a:r>
              <a:rPr lang="el-GR" dirty="0"/>
              <a:t> </a:t>
            </a:r>
            <a:r>
              <a:rPr lang="el-GR" dirty="0" err="1"/>
              <a:t>positives</a:t>
            </a:r>
            <a:r>
              <a:rPr lang="el-GR" dirty="0"/>
              <a:t> και </a:t>
            </a:r>
            <a:r>
              <a:rPr lang="el-GR" dirty="0" err="1"/>
              <a:t>false</a:t>
            </a:r>
            <a:r>
              <a:rPr lang="el-GR" dirty="0"/>
              <a:t> </a:t>
            </a:r>
            <a:r>
              <a:rPr lang="el-GR" dirty="0" err="1"/>
              <a:t>negatives</a:t>
            </a:r>
            <a:r>
              <a:rPr lang="el-GR" dirty="0"/>
              <a:t> για </a:t>
            </a:r>
            <a:r>
              <a:rPr lang="el-GR" dirty="0" err="1"/>
              <a:t>pedestrians</a:t>
            </a:r>
            <a:r>
              <a:rPr lang="el-GR" dirty="0"/>
              <a:t> παραμένουν πολύ χαμηλά.</a:t>
            </a:r>
          </a:p>
          <a:p>
            <a:r>
              <a:rPr lang="el-GR" dirty="0"/>
              <a:t>Αυτό σημαίνει ότι το </a:t>
            </a:r>
            <a:r>
              <a:rPr lang="el-GR" dirty="0" err="1"/>
              <a:t>person</a:t>
            </a:r>
            <a:r>
              <a:rPr lang="el-GR" dirty="0"/>
              <a:t> </a:t>
            </a:r>
            <a:r>
              <a:rPr lang="el-GR" dirty="0" err="1"/>
              <a:t>model</a:t>
            </a:r>
            <a:r>
              <a:rPr lang="el-GR" dirty="0"/>
              <a:t>, παρότι εκπαιδεύτηκε σε λιγότερα δείγματα, πέτυχε υψηλή ακρίβεια.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Εδώ συγκρίνουμε τα </a:t>
            </a:r>
            <a:r>
              <a:rPr lang="el-GR" dirty="0" err="1"/>
              <a:t>συστηματα</a:t>
            </a:r>
            <a:r>
              <a:rPr lang="el-GR" dirty="0"/>
              <a:t>.</a:t>
            </a:r>
            <a:br>
              <a:rPr lang="el-GR" dirty="0"/>
            </a:br>
            <a:r>
              <a:rPr lang="el-GR" dirty="0"/>
              <a:t>Ξεκινήσαμε με </a:t>
            </a:r>
            <a:r>
              <a:rPr lang="el-GR" dirty="0" err="1"/>
              <a:t>pretrained</a:t>
            </a:r>
            <a:r>
              <a:rPr lang="el-GR" dirty="0"/>
              <a:t> YOLOv8s και φίλτρα, όπου το </a:t>
            </a:r>
            <a:r>
              <a:rPr lang="el-GR" dirty="0" err="1"/>
              <a:t>overall</a:t>
            </a:r>
            <a:r>
              <a:rPr lang="el-GR" dirty="0"/>
              <a:t> F1 είναι περίπου 0.75 και το </a:t>
            </a:r>
            <a:r>
              <a:rPr lang="el-GR" dirty="0" err="1"/>
              <a:t>person</a:t>
            </a:r>
            <a:r>
              <a:rPr lang="el-GR" dirty="0"/>
              <a:t> F1 μόνο 0.52.</a:t>
            </a:r>
          </a:p>
          <a:p>
            <a:r>
              <a:rPr lang="el-GR" dirty="0"/>
              <a:t>Στη συνέχεια εφαρμόσαμε </a:t>
            </a:r>
            <a:r>
              <a:rPr lang="el-GR" dirty="0" err="1"/>
              <a:t>fine-tuning</a:t>
            </a:r>
            <a:r>
              <a:rPr lang="el-GR" dirty="0"/>
              <a:t> μόνο στους </a:t>
            </a:r>
            <a:r>
              <a:rPr lang="el-GR" dirty="0" err="1"/>
              <a:t>pedestrians</a:t>
            </a:r>
            <a:r>
              <a:rPr lang="el-GR" dirty="0"/>
              <a:t>.</a:t>
            </a:r>
          </a:p>
          <a:p>
            <a:r>
              <a:rPr lang="el-GR" dirty="0"/>
              <a:t>Αυτό αύξησε το </a:t>
            </a:r>
            <a:r>
              <a:rPr lang="el-GR" dirty="0" err="1"/>
              <a:t>person</a:t>
            </a:r>
            <a:r>
              <a:rPr lang="el-GR" dirty="0"/>
              <a:t> F1 περίπου στο 0.93, ενώ το </a:t>
            </a:r>
            <a:r>
              <a:rPr lang="el-GR" dirty="0" err="1"/>
              <a:t>car</a:t>
            </a:r>
            <a:r>
              <a:rPr lang="el-GR" dirty="0"/>
              <a:t> παρέμεινε σχεδόν ίδιο.</a:t>
            </a:r>
          </a:p>
          <a:p>
            <a:r>
              <a:rPr lang="el-GR" dirty="0"/>
              <a:t>Τέλος εφαρμόσαμε και </a:t>
            </a:r>
            <a:r>
              <a:rPr lang="el-GR" dirty="0" err="1"/>
              <a:t>car</a:t>
            </a:r>
            <a:r>
              <a:rPr lang="el-GR" dirty="0"/>
              <a:t> </a:t>
            </a:r>
            <a:r>
              <a:rPr lang="el-GR" dirty="0" err="1"/>
              <a:t>fine-tuning</a:t>
            </a:r>
            <a:r>
              <a:rPr lang="el-GR" dirty="0"/>
              <a:t>.</a:t>
            </a:r>
          </a:p>
          <a:p>
            <a:r>
              <a:rPr lang="el-GR" dirty="0"/>
              <a:t>Το τελικό αποτέλεσμα ήταν περίπου 0.90 F1 τόσο για </a:t>
            </a:r>
            <a:r>
              <a:rPr lang="el-GR" dirty="0" err="1"/>
              <a:t>person</a:t>
            </a:r>
            <a:r>
              <a:rPr lang="el-GR" dirty="0"/>
              <a:t> όσο και για </a:t>
            </a:r>
            <a:r>
              <a:rPr lang="el-GR" dirty="0" err="1"/>
              <a:t>car</a:t>
            </a:r>
            <a:r>
              <a:rPr lang="el-GR" dirty="0"/>
              <a:t>.</a:t>
            </a:r>
          </a:p>
          <a:p>
            <a:r>
              <a:rPr lang="el-GR" dirty="0"/>
              <a:t>Αυτό αποδεικνύει ότι το ξεχωριστό </a:t>
            </a:r>
            <a:r>
              <a:rPr lang="el-GR" dirty="0" err="1"/>
              <a:t>fine-tuning</a:t>
            </a:r>
            <a:r>
              <a:rPr lang="el-GR" dirty="0"/>
              <a:t> ανά κλάση ήταν πιο αποτελεσματικό από ένα κοινό μοντέλο.</a:t>
            </a:r>
            <a:endParaRPr lang="en-US" dirty="0"/>
          </a:p>
          <a:p>
            <a:r>
              <a:rPr lang="el-GR" dirty="0"/>
              <a:t>Η μεγαλύτερη βελτίωση ήταν στους </a:t>
            </a:r>
            <a:r>
              <a:rPr lang="el-GR" dirty="0" err="1"/>
              <a:t>pedestrians</a:t>
            </a:r>
            <a:r>
              <a:rPr lang="el-GR" dirty="0"/>
              <a:t>, όπου το F1 αυξήθηκε περίπου κατά 73%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Συνοψίζοντας, υπάρχουν τρία βασικά συμπεράσματα.</a:t>
            </a:r>
          </a:p>
          <a:p>
            <a:r>
              <a:rPr lang="el-GR" dirty="0"/>
              <a:t>Πρώτον, το </a:t>
            </a:r>
            <a:r>
              <a:rPr lang="el-GR" dirty="0" err="1"/>
              <a:t>fine-tuning</a:t>
            </a:r>
            <a:r>
              <a:rPr lang="el-GR" dirty="0"/>
              <a:t> αύξησε το </a:t>
            </a:r>
            <a:r>
              <a:rPr lang="el-GR" dirty="0" err="1"/>
              <a:t>overall</a:t>
            </a:r>
            <a:r>
              <a:rPr lang="el-GR" dirty="0"/>
              <a:t> F1 από περίπου 0.75 σε 0.90, δηλαδή περίπου 20% βελτίωση.</a:t>
            </a:r>
          </a:p>
          <a:p>
            <a:r>
              <a:rPr lang="el-GR" dirty="0"/>
              <a:t>Δεύτερον, η ανίχνευση </a:t>
            </a:r>
            <a:r>
              <a:rPr lang="el-GR" dirty="0" err="1"/>
              <a:t>pedestrians</a:t>
            </a:r>
            <a:r>
              <a:rPr lang="el-GR" dirty="0"/>
              <a:t> βελτιώθηκε </a:t>
            </a:r>
            <a:r>
              <a:rPr lang="el-GR" dirty="0" err="1"/>
              <a:t>σημαντικα</a:t>
            </a:r>
            <a:r>
              <a:rPr lang="el-GR" dirty="0"/>
              <a:t> — από 0.52 σε περίπου 0.90.</a:t>
            </a:r>
          </a:p>
          <a:p>
            <a:r>
              <a:rPr lang="el-GR" dirty="0"/>
              <a:t>Τρίτον, η χρήση δύο εξειδικευμένων μοντέλων απέδωσε καλύτερα από ένα κοινό μοντέλο, καθώς μείωσε την επίδραση του </a:t>
            </a:r>
            <a:r>
              <a:rPr lang="el-GR" dirty="0" err="1"/>
              <a:t>class</a:t>
            </a:r>
            <a:r>
              <a:rPr lang="el-GR" dirty="0"/>
              <a:t> </a:t>
            </a:r>
            <a:r>
              <a:rPr lang="el-GR" dirty="0" err="1"/>
              <a:t>imbalance</a:t>
            </a:r>
            <a:r>
              <a:rPr lang="el-GR" dirty="0"/>
              <a:t>.</a:t>
            </a:r>
          </a:p>
          <a:p>
            <a:r>
              <a:rPr lang="el-GR" dirty="0"/>
              <a:t>Το σύστημα λειτουργεί ως </a:t>
            </a:r>
            <a:r>
              <a:rPr lang="el-GR" dirty="0" err="1"/>
              <a:t>web-based</a:t>
            </a:r>
            <a:r>
              <a:rPr lang="el-GR" dirty="0"/>
              <a:t> </a:t>
            </a:r>
            <a:r>
              <a:rPr lang="en-US" dirty="0"/>
              <a:t>app</a:t>
            </a:r>
            <a:r>
              <a:rPr lang="el-GR" dirty="0"/>
              <a:t> μέσω </a:t>
            </a:r>
            <a:r>
              <a:rPr lang="el-GR" dirty="0" err="1"/>
              <a:t>Gradio</a:t>
            </a:r>
            <a:r>
              <a:rPr lang="el-GR" dirty="0"/>
              <a:t> και μπορεί να επεξεργάζεται </a:t>
            </a:r>
            <a:r>
              <a:rPr lang="el-GR" dirty="0" err="1"/>
              <a:t>video</a:t>
            </a:r>
            <a:r>
              <a:rPr lang="el-GR" dirty="0"/>
              <a:t> frame-</a:t>
            </a:r>
            <a:r>
              <a:rPr lang="el-GR" dirty="0" err="1"/>
              <a:t>by</a:t>
            </a:r>
            <a:r>
              <a:rPr lang="el-GR" dirty="0"/>
              <a:t>-frame, εντοπίζοντας </a:t>
            </a:r>
            <a:r>
              <a:rPr lang="el-GR" dirty="0" err="1"/>
              <a:t>πεζους</a:t>
            </a:r>
            <a:r>
              <a:rPr lang="el-GR" dirty="0"/>
              <a:t> και οχήματα σε πραγματικό χρόνο.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50292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 Detection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Counting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στο KITTI Dataset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με YOLOv8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35204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YOLOv8s &amp; IoU-based 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3977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EPL445 - DIGITAL IMAGE 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251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Φλωρεντία Παττίδου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Στυλιάνα Φέσια</a:t>
            </a:r>
            <a:endParaRPr lang="en-US" sz="12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57D6B39-4188-50C6-127A-4357B2A0A24B}"/>
              </a:ext>
            </a:extLst>
          </p:cNvPr>
          <p:cNvSpPr/>
          <p:nvPr/>
        </p:nvSpPr>
        <p:spPr>
          <a:xfrm>
            <a:off x="5029200" y="1280160"/>
            <a:ext cx="3474720" cy="1691640"/>
          </a:xfrm>
          <a:prstGeom prst="rect">
            <a:avLst/>
          </a:prstGeom>
          <a:solidFill>
            <a:srgbClr val="2B74E0"/>
          </a:solidFill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33249D7-8C6E-7D14-B863-8BEB480B6CD6}"/>
              </a:ext>
            </a:extLst>
          </p:cNvPr>
          <p:cNvSpPr/>
          <p:nvPr/>
        </p:nvSpPr>
        <p:spPr>
          <a:xfrm>
            <a:off x="6035040" y="1463040"/>
            <a:ext cx="1463040" cy="1325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94E5D82E-85F2-9CA3-0D25-0F7E1E93732B}"/>
              </a:ext>
            </a:extLst>
          </p:cNvPr>
          <p:cNvSpPr/>
          <p:nvPr/>
        </p:nvSpPr>
        <p:spPr>
          <a:xfrm>
            <a:off x="6382512" y="1719072"/>
            <a:ext cx="804672" cy="80467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B4BCF419-AB4A-E1DC-BB8C-D03F9B681571}"/>
              </a:ext>
            </a:extLst>
          </p:cNvPr>
          <p:cNvSpPr/>
          <p:nvPr/>
        </p:nvSpPr>
        <p:spPr>
          <a:xfrm>
            <a:off x="5212080" y="2971800"/>
            <a:ext cx="27432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1AF31D16-2F56-7063-8EF6-43177C6DC12D}"/>
              </a:ext>
            </a:extLst>
          </p:cNvPr>
          <p:cNvSpPr/>
          <p:nvPr/>
        </p:nvSpPr>
        <p:spPr>
          <a:xfrm>
            <a:off x="5212080" y="4206240"/>
            <a:ext cx="13716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7533AA1-F8E2-09F0-35D5-C6728648C48D}"/>
              </a:ext>
            </a:extLst>
          </p:cNvPr>
          <p:cNvSpPr/>
          <p:nvPr/>
        </p:nvSpPr>
        <p:spPr>
          <a:xfrm>
            <a:off x="8119872" y="1901952"/>
            <a:ext cx="402336" cy="402336"/>
          </a:xfrm>
          <a:prstGeom prst="rect">
            <a:avLst/>
          </a:prstGeom>
          <a:solidFill>
            <a:srgbClr val="2B74E0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ΜΕΘΟΔΟΣ &amp;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1170432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02920" y="1014984"/>
            <a:ext cx="868680" cy="86868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508760" y="960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30759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Frames </a:t>
            </a:r>
            <a:r>
              <a:rPr lang="el-GR" sz="1400" dirty="0"/>
              <a:t>από </a:t>
            </a:r>
            <a:r>
              <a:rPr lang="en-US" sz="1400" dirty="0"/>
              <a:t>KITTI dataset → Label conversion (pixel → YOLO format) → Fine-tuning YOLOv8s </a:t>
            </a:r>
            <a:r>
              <a:rPr lang="el-GR" sz="1400" dirty="0"/>
              <a:t>ξεχωριστά ανά κλάση (</a:t>
            </a:r>
            <a:r>
              <a:rPr lang="en-US" sz="1400" dirty="0"/>
              <a:t>person + car) → </a:t>
            </a:r>
            <a:r>
              <a:rPr lang="el-GR" sz="1400" dirty="0"/>
              <a:t>Ανίχνευση </a:t>
            </a:r>
            <a:r>
              <a:rPr lang="en-US" sz="1400" dirty="0"/>
              <a:t>person &amp; car </a:t>
            </a:r>
            <a:r>
              <a:rPr lang="el-GR" sz="1400" dirty="0"/>
              <a:t>με </a:t>
            </a:r>
            <a:r>
              <a:rPr lang="en-US" sz="1400" dirty="0"/>
              <a:t>bounding boxes</a:t>
            </a:r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8321040" cy="1170432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868680" cy="86868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1508760" y="2258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Post-processing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 ανά κλάση · Size &amp; aspect-ratio filters · Sky cutoff (top 40%) · Greedy NMS · Person-Car IoP overlap filter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465576"/>
            <a:ext cx="8321040" cy="1170432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868680" cy="86868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508760" y="355701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με IoU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904488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matching (threshold=0.50) με KITTI ground truth · TP/FP/FN ανά frame · Precision, Recall, F1-score · Van/Truck→car mapping · DontCare zones αφαιρούνται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2C44A3-1893-2020-66FA-C5FC253C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0" y="1161993"/>
            <a:ext cx="574661" cy="5746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0F2D8B-28D2-BDB8-C774-35358AF83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23" y="2470826"/>
            <a:ext cx="590128" cy="5901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1B5A184-1E9F-E87C-42F1-795EB6777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23" y="3769614"/>
            <a:ext cx="553212" cy="5532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24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FINE-TUNING YOLOv8s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3977640" cy="420624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7" name="Text 5"/>
          <p:cNvSpPr/>
          <p:nvPr/>
        </p:nvSpPr>
        <p:spPr>
          <a:xfrm>
            <a:off x="521208" y="12070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2070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yolov8s.pt (COCO pretrained)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10" name="Text 8"/>
          <p:cNvSpPr/>
          <p:nvPr/>
        </p:nvSpPr>
        <p:spPr>
          <a:xfrm>
            <a:off x="521208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8105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cs typeface="Arial" pitchFamily="34" charset="-120"/>
              </a:rPr>
              <a:t>1,995 / 499 εικόνες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13" name="Text 11"/>
          <p:cNvSpPr/>
          <p:nvPr/>
        </p:nvSpPr>
        <p:spPr>
          <a:xfrm>
            <a:off x="521208" y="24140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41401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30  |  AdamW  |  lr=0.0005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16" name="Text 14"/>
          <p:cNvSpPr/>
          <p:nvPr/>
        </p:nvSpPr>
        <p:spPr>
          <a:xfrm>
            <a:off x="521208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/ size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8  |  640×640 px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19" name="Text 17"/>
          <p:cNvSpPr/>
          <p:nvPr/>
        </p:nvSpPr>
        <p:spPr>
          <a:xfrm>
            <a:off x="521208" y="36210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62102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Tesla T4  (~1h)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22" name="Text 20"/>
          <p:cNvSpPr/>
          <p:nvPr/>
        </p:nvSpPr>
        <p:spPr>
          <a:xfrm>
            <a:off x="521208" y="4224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mAP50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422452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0.927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749808"/>
            <a:ext cx="3977640" cy="420624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663440" y="74980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MODEL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207008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27" name="Text 25"/>
          <p:cNvSpPr/>
          <p:nvPr/>
        </p:nvSpPr>
        <p:spPr>
          <a:xfrm>
            <a:off x="4773168" y="12070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12070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yolov8s.pt (COCO pretrained)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1810512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>
              <a:latin typeface="Aptos SemiBold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73168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0760" y="18105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5,608 / 1,402 εικόνες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63440" y="241401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>
              <a:latin typeface="Aptos SemiBold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73168" y="24140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241401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15  |  AdamW  |  lr=0.0005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/>
          </a:p>
        </p:txBody>
      </p:sp>
      <p:sp>
        <p:nvSpPr>
          <p:cNvPr id="36" name="Text 34"/>
          <p:cNvSpPr/>
          <p:nvPr/>
        </p:nvSpPr>
        <p:spPr>
          <a:xfrm>
            <a:off x="4773168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/ size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0760" y="3017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8  |  640×640 px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3621024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>
              <a:latin typeface="Aptos SemiBold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73168" y="36210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80760" y="362102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Tesla T4  (~1.7h)</a:t>
            </a:r>
            <a:endParaRPr lang="en-US" sz="1400" dirty="0">
              <a:latin typeface="Aptos SemiBold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63440" y="4224528"/>
            <a:ext cx="3977640" cy="54864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1400">
              <a:latin typeface="Aptos SemiBold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73168" y="42245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mAP50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080760" y="422452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ptos SemiBold" panose="020B0004020202020204" pitchFamily="34" charset="0"/>
                <a:ea typeface="Arial" pitchFamily="34" charset="-122"/>
                <a:cs typeface="Arial" pitchFamily="34" charset="-120"/>
              </a:rPr>
              <a:t>0.969</a:t>
            </a:r>
            <a:endParaRPr lang="en-US" sz="1400" dirty="0">
              <a:latin typeface="Aptos SemiBold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9799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CURVES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Fine-tuning (30 epochs)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6949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Fine-tuning (15 epochs)</a:t>
            </a:r>
            <a:endParaRPr lang="en-US" sz="1200" dirty="0"/>
          </a:p>
        </p:txBody>
      </p:sp>
      <p:pic>
        <p:nvPicPr>
          <p:cNvPr id="6" name="Image 0" descr="/home/claude/img_perso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4206240" cy="3794760"/>
          </a:xfrm>
          <a:prstGeom prst="rect">
            <a:avLst/>
          </a:prstGeom>
        </p:spPr>
      </p:pic>
      <p:pic>
        <p:nvPicPr>
          <p:cNvPr id="7" name="Image 1" descr="/home/claude/img_car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987552"/>
            <a:ext cx="42062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ΕΝΔΕΙΚΤΙΚΑ ΑΠΟΤΕΛΕΣΜΑΤΑ</a:t>
            </a:r>
            <a:endParaRPr lang="en-US" sz="3600" dirty="0"/>
          </a:p>
        </p:txBody>
      </p:sp>
      <p:pic>
        <p:nvPicPr>
          <p:cNvPr id="4" name="Image 0" descr="/home/claude/annotated_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850392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EBF3FF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02920" y="4434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Annotated frame από KITTI sequence 0000  |  Αποθηκεύτηκε κάθε 20 frames  |  Μπλε boxes = Cars  |  Πράσινα boxes = Persons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ΑΝΙΧΝΕΥΣΕΙΣ ΑΝΑ FRAME</a:t>
            </a:r>
            <a:endParaRPr lang="en-US" sz="3600" dirty="0"/>
          </a:p>
        </p:txBody>
      </p:sp>
      <p:pic>
        <p:nvPicPr>
          <p:cNvPr id="4" name="Image 0" descr="/home/claude/img_detected_per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8503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754880"/>
            <a:ext cx="8503920" cy="164592"/>
          </a:xfrm>
          <a:prstGeom prst="rect">
            <a:avLst/>
          </a:prstGeom>
          <a:solidFill>
            <a:srgbClr val="EBF3FF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02920" y="47548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0001  |  447 frames  |  Μπλε = Persons  ·  Πορτοκαλί = Cars  ·  Πράσινο = Total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199724" y="53035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ΑΠΟΤΕΛΕΣΜΑΤΑ BASELINE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88920" cy="384048"/>
          </a:xfrm>
          <a:prstGeom prst="rect">
            <a:avLst/>
          </a:prstGeom>
          <a:solidFill>
            <a:srgbClr val="4EC5C1"/>
          </a:solidFill>
          <a:ln w="12700">
            <a:solidFill>
              <a:srgbClr val="4EC5C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ΣΥΝΟΛΙΚΑ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46120" y="1170432"/>
            <a:ext cx="2788920" cy="38404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24612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33756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4612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333756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24612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333756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3756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172200" y="1170432"/>
            <a:ext cx="2788920" cy="384048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17220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 METRICS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26364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0.89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17220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626364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6364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0.34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17220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626364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6364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288758" y="50749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ΑΠΟΤΕΛΕΣΜΑΤΑ FINE-TUNED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88920" cy="384048"/>
          </a:xfrm>
          <a:prstGeom prst="rect">
            <a:avLst/>
          </a:prstGeom>
          <a:solidFill>
            <a:srgbClr val="4EC5C1"/>
          </a:solidFill>
          <a:ln w="12700">
            <a:solidFill>
              <a:srgbClr val="4EC5C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ΣΥΝΟΛΙΚΑ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1148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0.887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0.897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2269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422452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11480" y="42428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~0.85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46120" y="1170432"/>
            <a:ext cx="2788920" cy="38404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24612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33756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4612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333756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0.888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4612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333756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0.897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46120" y="3566160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3337560" y="3584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2177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246120" y="422452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3337560" y="42428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756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226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172200" y="1170432"/>
            <a:ext cx="2788920" cy="384048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6172200" y="1170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 METRICS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1591056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6263640" y="16093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18653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0.939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172200" y="2249424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6263640" y="2267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6364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0.868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172200" y="2907792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626364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63640" y="3182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0.902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172200" y="3566160"/>
            <a:ext cx="278892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Text 49"/>
          <p:cNvSpPr/>
          <p:nvPr/>
        </p:nvSpPr>
        <p:spPr>
          <a:xfrm>
            <a:off x="6263640" y="3584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63640" y="3840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172200" y="422452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6263640" y="42428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6364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ΓΡΑΦΙΚΕΣ ΑΠΟΤΕΛΕΣΜΑΤΩΝ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5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ανά κλάση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09160" y="694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· Recall · F1-score</a:t>
            </a:r>
            <a:endParaRPr lang="en-US" sz="1600" dirty="0"/>
          </a:p>
        </p:txBody>
      </p:sp>
      <p:pic>
        <p:nvPicPr>
          <p:cNvPr id="6" name="Image 0" descr="/home/claude/img_f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4206240" cy="3749040"/>
          </a:xfrm>
          <a:prstGeom prst="rect">
            <a:avLst/>
          </a:prstGeom>
        </p:spPr>
      </p:pic>
      <p:pic>
        <p:nvPicPr>
          <p:cNvPr id="7" name="Image 1" descr="/home/claude/img_pr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87552"/>
            <a:ext cx="42062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ΑΝΑΛΥΣΗ TP / FP / FN</a:t>
            </a:r>
            <a:endParaRPr lang="en-US" sz="3600" dirty="0"/>
          </a:p>
        </p:txBody>
      </p:sp>
      <p:pic>
        <p:nvPicPr>
          <p:cNvPr id="4" name="Image 0" descr="/home/claude/img_tpfp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77724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3" name="Text 1"/>
          <p:cNvSpPr/>
          <p:nvPr/>
        </p:nvSpPr>
        <p:spPr>
          <a:xfrm>
            <a:off x="318596" y="5669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ΣΥΓΚΡΙΣΗ</a:t>
            </a: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ΣΥΣΤΗΜΑΤΩΝ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6" name="Text 4"/>
          <p:cNvSpPr/>
          <p:nvPr/>
        </p:nvSpPr>
        <p:spPr>
          <a:xfrm>
            <a:off x="530352" y="1133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Σύστημα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90672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Overall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79392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Person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68112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56832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45552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591056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91440" cy="896112"/>
          </a:xfrm>
          <a:prstGeom prst="rect">
            <a:avLst/>
          </a:prstGeom>
          <a:solidFill>
            <a:srgbClr val="4EC5C1"/>
          </a:solidFill>
          <a:ln w="12700">
            <a:solidFill>
              <a:srgbClr val="4EC5C1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14" name="Text 12"/>
          <p:cNvSpPr/>
          <p:nvPr/>
        </p:nvSpPr>
        <p:spPr>
          <a:xfrm>
            <a:off x="545202" y="1591056"/>
            <a:ext cx="209322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+ filters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0672" y="159105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79392" y="159105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68112" y="159105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6832" y="159105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45552" y="159105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040" y="2551176"/>
            <a:ext cx="8503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21" name="Shape 19"/>
          <p:cNvSpPr/>
          <p:nvPr/>
        </p:nvSpPr>
        <p:spPr>
          <a:xfrm>
            <a:off x="320040" y="2551176"/>
            <a:ext cx="91440" cy="89611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22" name="Text 20"/>
          <p:cNvSpPr/>
          <p:nvPr/>
        </p:nvSpPr>
        <p:spPr>
          <a:xfrm>
            <a:off x="545202" y="2551176"/>
            <a:ext cx="209322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Person fine-tuned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90672" y="255117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0.78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279392" y="255117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68112" y="255117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56832" y="255117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0.80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845552" y="255117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0.76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20040" y="3511296"/>
            <a:ext cx="8503920" cy="896112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29" name="Shape 27"/>
          <p:cNvSpPr/>
          <p:nvPr/>
        </p:nvSpPr>
        <p:spPr>
          <a:xfrm>
            <a:off x="320040" y="3511296"/>
            <a:ext cx="91440" cy="896112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LID4096" sz="2000"/>
          </a:p>
        </p:txBody>
      </p:sp>
      <p:sp>
        <p:nvSpPr>
          <p:cNvPr id="30" name="Text 28"/>
          <p:cNvSpPr/>
          <p:nvPr/>
        </p:nvSpPr>
        <p:spPr>
          <a:xfrm>
            <a:off x="545202" y="3511296"/>
            <a:ext cx="209322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Car fine-tuned (τελικό)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90672" y="35112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5B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79392" y="35112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5B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68112" y="35112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5B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56832" y="35112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5B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45552" y="35112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5B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0.89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0312" y="4494276"/>
            <a:ext cx="8613648" cy="425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Συμπέρασμα</a:t>
            </a: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Το ξεχωριστό fine-tuning ανά κλάση δίνει F1 ≥ 0.90 και για τις δύο κλάσεις - από 0.52 για person στο baseline (+73%)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ΣΥΜΠΕΡΑΣΜΑΤΑ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8046720" cy="347472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7816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l-GR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ΣΥΜΠΕΡΑΣΜΑΤΑ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2560320" cy="47548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F1: 0.75 → 0.90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(+20%)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560320" cy="47548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4612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 F1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 → 0.90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(+73%)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Δραματική βελτίωση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2560320" cy="47548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98932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Ξεχωριστά μοντέλα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 + Car FT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ξεχωριστά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Καλύτερη εξειδίκευση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2B74E0"/>
          </a:solidFill>
          <a:ln w="12700">
            <a:solidFill>
              <a:srgbClr val="2B74E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ΣΑΣ ΕΥΧΑΡΙΣΤΟΥΜΕ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ΓΙΑ ΤΗΝ ΠΡΟΣΟΧΗ ΣΑΣ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Φλωρεντία Παττίδου  |  Στυλιάνα Φέσια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EPL445 - Digital Image Processing  •  University of Cyprus  • 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1585</Words>
  <Application>Microsoft Office PowerPoint</Application>
  <PresentationFormat>On-screen Show (16:9)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SemiBold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Florentia Pattidou</cp:lastModifiedBy>
  <cp:revision>17</cp:revision>
  <dcterms:created xsi:type="dcterms:W3CDTF">2026-05-23T19:17:37Z</dcterms:created>
  <dcterms:modified xsi:type="dcterms:W3CDTF">2026-05-24T21:02:49Z</dcterms:modified>
</cp:coreProperties>
</file>